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71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43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Reemplazar el placeholder del logo con la imagen LOGO_SPORT_sin_fondo.png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capturas: scroll arriba (sesión + alertas) y scroll abajo (velocidades + card + top5). Pegar mitad/mitad o usar dos slides si queda chico.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ejes independientes: Volumen (Distancia), Intensidad (HSR), Neuromuscular (Acel+Decel), Impactos (Contactos). Semáforo asimétrico: solo penaliza sobrecarga ≥1.30 amarillo, ≥1.50 rojo.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Z-score calculado sobre df_raw (no el subset filtrado) para evitar inflación en modo "Solo 1 equipo".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3B3B-28D0-1F51-1243-2D092486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23DE1-9A3D-C265-A7D9-1ABCEFC56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ADAB8-D549-8EC1-5BAB-58E638E47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82965-0078-6514-FFA7-8F7F119E5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61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calculado replicando lógica DAX de Power BI: groupby jugador+fecha con SUM, filtrar Minutos&gt;30, luego average. "vs mismo MD type" usa df_raw_full sin filtro de 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Scoring: normalización min-max por columna (MAX_HIST dinámico), pesos por eje fisiológico. Ranking desacoplado de los filtros de puntaje para ver siempre el orden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535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4" name="Shape 2"/>
          <p:cNvSpPr/>
          <p:nvPr/>
        </p:nvSpPr>
        <p:spPr>
          <a:xfrm>
            <a:off x="3474720" y="0"/>
            <a:ext cx="36576" cy="5143500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1E3048"/>
          </a:solidFill>
          <a:ln w="63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57200" y="548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Big Data aplicado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Preparación Física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Fútbol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Data Campus · 2026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6400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GPS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5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carga y análisis de rendimiento físico a través de GPS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3090672"/>
            <a:ext cx="5029200" cy="18288"/>
          </a:xfrm>
          <a:prstGeom prst="rect">
            <a:avLst/>
          </a:prstGeom>
          <a:solidFill>
            <a:srgbClr val="1E304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3749040" y="3218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Atlético de San Isidro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520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de Máster · Agustín Cony</a:t>
            </a:r>
            <a:endParaRPr lang="en-US" sz="10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1C520B2-823F-FDEF-F271-252C4BF0E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66" y="640080"/>
            <a:ext cx="2322588" cy="223606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78DED48D-92F5-0F75-E576-232B053CABE4}"/>
              </a:ext>
            </a:extLst>
          </p:cNvPr>
          <p:cNvSpPr txBox="1"/>
          <p:nvPr/>
        </p:nvSpPr>
        <p:spPr>
          <a:xfrm>
            <a:off x="3749040" y="4196943"/>
            <a:ext cx="3236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A8CC"/>
                </a:solidFill>
              </a:rPr>
              <a:t>https://final-master-cony.streamlit.app/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rol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ATLÉTICO DE SAN ISIDRO · RUGBY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94360" y="14173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Atlético de San Isidro (CASI) · fundado en 1902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clubes históricos del rugby argentino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 en la Primera División (TOP 14) de la Unión de Rugby de Buenos Aires (URBA)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planteles senior con seguimiento GPS: Primera, Intermedia y Pre A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tecnología Catapult para monitoreo físico desde la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69087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ROL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298448"/>
            <a:ext cx="4251960" cy="2651760"/>
          </a:xfrm>
          <a:prstGeom prst="roundRect">
            <a:avLst>
              <a:gd name="adj" fmla="val 2759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4800600" y="141732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s-A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Preparador físico y analista de rendimiento integrado en cuerpo técnico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monitorear la carga de 45+ jugadores por sesión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análisis centralizado en un único equipo: exportación manual desde </a:t>
            </a:r>
            <a:r>
              <a:rPr lang="es-AR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procesamiento local y visualización en Power BI — sin acceso compartido para el resto del cuerpo técnico</a:t>
            </a:r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visual antes de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dashboard propio en Python accesible desde cualquier dispositivo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EXCEL A UN SISTEMA OPERATIVO DE CONTROL DE CARGA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94360" y="141732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 exporta datos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CSV · proceso manual y lento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herramienta de uso restringido al analista, sin posibilidad de consulta autónoma por parte del cuerpo técnico</a:t>
            </a:r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wellness y RPE: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baja de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lesiones: entregado tarde e incompleto, inviable de integrar en el alcance de este trabajo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64515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298448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4754880" y="1417320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en Python + Streamlit: gratuita, accesible y reproducible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y expande el Power BI con 6 módulos especializados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GPS </a:t>
            </a:r>
            <a:r>
              <a:rPr lang="es-AR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r>
              <a:rPr lang="es-AR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principal fuente de datos del rendimiento físico</a:t>
            </a:r>
          </a:p>
          <a:p>
            <a:pPr algn="just">
              <a:spcAft>
                <a:spcPts val="600"/>
              </a:spcAft>
            </a:pP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Desplegada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Community Cloud — disponible 24/7</a:t>
            </a:r>
            <a:endParaRPr lang="en-US" sz="1000" dirty="0"/>
          </a:p>
          <a:p>
            <a:pPr algn="just">
              <a:spcAft>
                <a:spcPts val="600"/>
              </a:spcAft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carga, alertas EWMA, perfiles y scoring en un solo sistema</a:t>
            </a:r>
            <a:b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6118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3048"/>
          </a:solidFill>
          <a:ln w="101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411480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monitoreados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96312" y="36118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3048"/>
          </a:solidFill>
          <a:ln w="101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2496312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2496312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análisis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81144" y="36118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3048"/>
          </a:solidFill>
          <a:ln w="101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4581144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581144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con GPS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65976" y="36118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E3048"/>
          </a:solidFill>
          <a:ln w="1016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6665976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665976" y="43159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GPS analizadas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373B617D-7BDF-75FD-C76C-F0E3D0496B1A}"/>
              </a:ext>
            </a:extLst>
          </p:cNvPr>
          <p:cNvSpPr/>
          <p:nvPr/>
        </p:nvSpPr>
        <p:spPr>
          <a:xfrm>
            <a:off x="4956048" y="3044952"/>
            <a:ext cx="3703320" cy="1959048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arquitectura técnica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CATAPULT A STREAMLIT CLOUD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 ·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Catapult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OpenField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GPS 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635508" y="324058"/>
            <a:ext cx="786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s-AR" sz="950" dirty="0">
              <a:solidFill>
                <a:srgbClr val="7A9A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r>
              <a:rPr lang="es-AR" sz="95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jugador genera múltiples filas por sesión. </a:t>
            </a:r>
            <a:r>
              <a:rPr lang="es-AR" sz="950" dirty="0" err="1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AR" sz="95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actual: hasta col CX (&gt;50 métricas) · 15.050 filas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84632" y="2834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3081528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GPS.csv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42900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16736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1316736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convertir_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a_parquet.py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342900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84832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2084832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totales_gps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.parquet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42900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52928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 txBox="1"/>
          <p:nvPr/>
        </p:nvSpPr>
        <p:spPr>
          <a:xfrm>
            <a:off x="2852928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3511296" y="342900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21024" y="32461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1E3048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3621024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0507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Parquet: reduce de ~45 MB a ~3.6 MB, carga 10x más rápida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session_state: datos cargados una sola vez para toda la sesión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s-AR" sz="9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de conversión debe ejecutarse manualmente cada vez que se incorporan nuevos datos al archivo fuente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 txBox="1"/>
          <p:nvPr/>
        </p:nvSpPr>
        <p:spPr>
          <a:xfrm>
            <a:off x="469087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DATOS PYTHON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1298448"/>
            <a:ext cx="4251960" cy="1417320"/>
          </a:xfrm>
          <a:prstGeom prst="roundRect">
            <a:avLst>
              <a:gd name="adj" fmla="val 5161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Shape 40"/>
          <p:cNvSpPr/>
          <p:nvPr/>
        </p:nvSpPr>
        <p:spPr>
          <a:xfrm>
            <a:off x="4617720" y="283464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 txBox="1"/>
          <p:nvPr/>
        </p:nvSpPr>
        <p:spPr>
          <a:xfrm>
            <a:off x="4690872" y="2834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D42098A2-F76E-26FF-3463-4BDD4E93F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240" y="3112598"/>
            <a:ext cx="3506400" cy="1780882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AC9F34AE-CE5F-DEDA-BBA4-E88A5D15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1361865"/>
            <a:ext cx="2596896" cy="1283602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30226D2F-ACCD-13DE-0A21-37F33DF092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102"/>
          <a:stretch>
            <a:fillRect/>
          </a:stretch>
        </p:blipFill>
        <p:spPr>
          <a:xfrm>
            <a:off x="4690872" y="1337042"/>
            <a:ext cx="3968496" cy="1308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997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Panel Resumen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6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GENERAL · LECTURA RÁPIDA PARA EL CUERPO TÉCNICO</a:t>
            </a:r>
            <a:endParaRPr lang="en-US" sz="110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0B08AC-6B77-C258-58F7-3B9335492872}"/>
              </a:ext>
            </a:extLst>
          </p:cNvPr>
          <p:cNvGrpSpPr/>
          <p:nvPr/>
        </p:nvGrpSpPr>
        <p:grpSpPr>
          <a:xfrm>
            <a:off x="713935" y="1082407"/>
            <a:ext cx="7716129" cy="3594998"/>
            <a:chOff x="611944" y="1216153"/>
            <a:chExt cx="7716129" cy="3594998"/>
          </a:xfrm>
        </p:grpSpPr>
        <p:sp>
          <p:nvSpPr>
            <p:cNvPr id="7" name="Shape 5"/>
            <p:cNvSpPr/>
            <p:nvPr/>
          </p:nvSpPr>
          <p:spPr>
            <a:xfrm>
              <a:off x="611944" y="1216153"/>
              <a:ext cx="7716129" cy="3594998"/>
            </a:xfrm>
            <a:prstGeom prst="rect">
              <a:avLst/>
            </a:prstGeom>
            <a:solidFill>
              <a:srgbClr val="1E3048"/>
            </a:solidFill>
            <a:ln w="12700">
              <a:solidFill>
                <a:srgbClr val="00A8CC"/>
              </a:solidFill>
              <a:prstDash val="dash"/>
            </a:ln>
          </p:spPr>
          <p:txBody>
            <a:bodyPr/>
            <a:lstStyle/>
            <a:p>
              <a:endParaRPr lang="es-AR"/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B3F383F8-0891-7330-EDC2-37B475706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298448"/>
              <a:ext cx="7526215" cy="33789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7162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Análisis de Sesión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860320" y="307026"/>
            <a:ext cx="5189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SESIÓN VS. PARTIDO Y VS. IGUAL TIPO DE SESIÓN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096" y="614934"/>
            <a:ext cx="7825858" cy="442213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11652DC-E353-3B7C-8865-2EF708ACF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693432"/>
            <a:ext cx="7575804" cy="4265134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EF71F6BA-9092-FB10-8017-5DB4D81817E7}"/>
              </a:ext>
            </a:extLst>
          </p:cNvPr>
          <p:cNvGrpSpPr/>
          <p:nvPr/>
        </p:nvGrpSpPr>
        <p:grpSpPr>
          <a:xfrm>
            <a:off x="833511" y="2825999"/>
            <a:ext cx="1269609" cy="1169226"/>
            <a:chOff x="411480" y="3749040"/>
            <a:chExt cx="8321040" cy="1069848"/>
          </a:xfrm>
        </p:grpSpPr>
        <p:sp>
          <p:nvSpPr>
            <p:cNvPr id="9" name="Shape 7"/>
            <p:cNvSpPr/>
            <p:nvPr/>
          </p:nvSpPr>
          <p:spPr>
            <a:xfrm>
              <a:off x="411480" y="3749040"/>
              <a:ext cx="36576" cy="201168"/>
            </a:xfrm>
            <a:prstGeom prst="rect">
              <a:avLst/>
            </a:prstGeom>
            <a:solidFill>
              <a:srgbClr val="00A8CC"/>
            </a:solidFill>
            <a:ln/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484632" y="3749040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00A8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QUÉ MUESTRA</a:t>
              </a:r>
              <a:endParaRPr lang="en-US" sz="8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11480" y="3950208"/>
              <a:ext cx="83210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spcAft>
                  <a:spcPts val="600"/>
                </a:spcAft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Promedio del equipo en 8 métricas GPS para la sesión seleccionada</a:t>
              </a:r>
              <a:endParaRPr lang="en-US" sz="900" dirty="0"/>
            </a:p>
            <a:p>
              <a:pPr algn="just">
                <a:spcAft>
                  <a:spcPts val="600"/>
                </a:spcAft>
              </a:pPr>
              <a:r>
                <a:rPr lang="en-US" sz="900" dirty="0">
                  <a:solidFill>
                    <a:srgbClr val="7A9A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Comparativa % vs </a:t>
              </a:r>
              <a:r>
                <a:rPr lang="en-US" sz="900" dirty="0" err="1">
                  <a:solidFill>
                    <a:srgbClr val="7A9A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partido</a:t>
              </a:r>
              <a:r>
                <a:rPr lang="en-US" sz="900" dirty="0">
                  <a:solidFill>
                    <a:srgbClr val="7A9A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dirty="0" err="1">
                  <a:solidFill>
                    <a:srgbClr val="7A9A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promedio</a:t>
              </a:r>
              <a:r>
                <a:rPr lang="en-US" sz="900" dirty="0">
                  <a:solidFill>
                    <a:srgbClr val="7A9A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- ¿cómo de exigente fue la sesión?</a:t>
              </a:r>
              <a:endParaRPr lang="en-US" sz="900" dirty="0"/>
            </a:p>
            <a:p>
              <a:pPr algn="just">
                <a:spcAft>
                  <a:spcPts val="600"/>
                </a:spcAft>
              </a:pPr>
              <a:r>
                <a:rPr lang="en-US" sz="900" dirty="0">
                  <a:solidFill>
                    <a:srgbClr val="7A9A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Comparativa vs histórico del mismo tipo de día (MD-2, MD+3, MD-4...)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856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Control Semanal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428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· 4 EJES INDEPENDIENTES · SEMÁFORO DE RIESGO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31004" y="1631277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1814030" y="1599753"/>
            <a:ext cx="361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GENERAL </a:t>
            </a:r>
            <a:r>
              <a:rPr lang="en-US" sz="8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SEMÁFORO 4 EJES POR JUGADOR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6658" y="945477"/>
            <a:ext cx="3984674" cy="2002536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 dirty="0"/>
          </a:p>
        </p:txBody>
      </p:sp>
      <p:sp>
        <p:nvSpPr>
          <p:cNvPr id="9" name="Shape 7"/>
          <p:cNvSpPr/>
          <p:nvPr/>
        </p:nvSpPr>
        <p:spPr>
          <a:xfrm>
            <a:off x="4861794" y="3795344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934946" y="3795344"/>
            <a:ext cx="3797574" cy="196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JUGADOR </a:t>
            </a:r>
            <a:r>
              <a:rPr lang="en-US" sz="8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CURVAS EWMA + CARGA DIARIA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1586" y="2706275"/>
            <a:ext cx="4263486" cy="218910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EF89431-9D7E-E5F8-EA51-3D341603E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979"/>
          <a:stretch>
            <a:fillRect/>
          </a:stretch>
        </p:blipFill>
        <p:spPr>
          <a:xfrm>
            <a:off x="5055281" y="987552"/>
            <a:ext cx="3927428" cy="193667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4A830C3-1A2C-2271-2102-997BA9A66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86" y="2751723"/>
            <a:ext cx="4263486" cy="20872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068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438912" y="15580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TEMPORAL DE LAS 4 CARGAS · SEMANA A SEMANA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9768" y="463179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502920" y="463179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CARGA SEMANAL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298448"/>
            <a:ext cx="8321040" cy="2844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CAPTURA: Gráfico de carga semanal: barras o líneas por semana para cada eje</a:t>
            </a:r>
            <a:endParaRPr lang="en-US" sz="1000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41651D9-9C13-CE05-7EBA-BB9E54E75DEB}"/>
              </a:ext>
            </a:extLst>
          </p:cNvPr>
          <p:cNvGrpSpPr/>
          <p:nvPr/>
        </p:nvGrpSpPr>
        <p:grpSpPr>
          <a:xfrm>
            <a:off x="411480" y="725540"/>
            <a:ext cx="8302752" cy="3801444"/>
            <a:chOff x="411480" y="697404"/>
            <a:chExt cx="8302752" cy="3801444"/>
          </a:xfrm>
        </p:grpSpPr>
        <p:sp>
          <p:nvSpPr>
            <p:cNvPr id="7" name="Shape 5"/>
            <p:cNvSpPr/>
            <p:nvPr/>
          </p:nvSpPr>
          <p:spPr>
            <a:xfrm>
              <a:off x="411480" y="697404"/>
              <a:ext cx="8302752" cy="3801444"/>
            </a:xfrm>
            <a:prstGeom prst="rect">
              <a:avLst/>
            </a:prstGeom>
            <a:solidFill>
              <a:srgbClr val="1E3048"/>
            </a:solidFill>
            <a:ln w="12700">
              <a:solidFill>
                <a:srgbClr val="00A8CC"/>
              </a:solidFill>
              <a:prstDash val="dash"/>
            </a:ln>
          </p:spPr>
          <p:txBody>
            <a:bodyPr/>
            <a:lstStyle/>
            <a:p>
              <a:endParaRPr lang="es-AR"/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58BCFE23-E97B-A2FE-B499-E6D5145D5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737195"/>
              <a:ext cx="8229600" cy="3640974"/>
            </a:xfrm>
            <a:prstGeom prst="rect">
              <a:avLst/>
            </a:prstGeom>
          </p:spPr>
        </p:pic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1D9613D-F27A-E186-BFF1-E37066BFC12E}"/>
              </a:ext>
            </a:extLst>
          </p:cNvPr>
          <p:cNvSpPr txBox="1"/>
          <p:nvPr/>
        </p:nvSpPr>
        <p:spPr>
          <a:xfrm>
            <a:off x="457200" y="4532937"/>
            <a:ext cx="65836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AR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 carga del equipo semana a semana para cada uno de los 4 ejes, con un objetivo de carga configurable.</a:t>
            </a:r>
          </a:p>
          <a:p>
            <a:pPr algn="just">
              <a:spcAft>
                <a:spcPts val="600"/>
              </a:spcAft>
            </a:pPr>
            <a:r>
              <a:rPr lang="es-AR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lo define el departamento de rendimiento según el tipo de microciclo: descarga, competencia o acumulación.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9272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Carga Acumulada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4992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SEMANAL (ABSOLUTO Y Z-SCORE) · HEATMAP DE MÉTRICAS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72809" y="1276281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5145961" y="1276281"/>
            <a:ext cx="3891465" cy="18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SEMANAL (ABSOLUTO O Z-SCORE SEGÚN SELECCIÓN)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8515" y="1038349"/>
            <a:ext cx="4617720" cy="192024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1554480" y="379577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1627632" y="379577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Z-SCORE · TODAS LAS MÉTRICAS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85211" y="3030534"/>
            <a:ext cx="4571999" cy="192024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6998607-66CF-8950-4579-90D6F6E08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24" y="1056483"/>
            <a:ext cx="4530501" cy="188397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81C405E-B8BD-516E-168D-0B8EBB5B9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31" t="2828" r="-2331" b="12406"/>
          <a:stretch>
            <a:fillRect/>
          </a:stretch>
        </p:blipFill>
        <p:spPr>
          <a:xfrm>
            <a:off x="4357117" y="3129122"/>
            <a:ext cx="4571999" cy="17606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8676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Sprint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752685" y="3353074"/>
            <a:ext cx="45719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5825838" y="3353074"/>
            <a:ext cx="2341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VELOCIDADES MÁXIMAS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005903" y="638384"/>
            <a:ext cx="4989854" cy="2607736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84632" y="32461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% VELOCIDAD POR SEMANA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3107" y="1252728"/>
            <a:ext cx="3115057" cy="3410712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8BDBAB7-685C-B819-2667-CB0E6D227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159" y="665816"/>
            <a:ext cx="4904957" cy="255287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477B825-670F-E4D2-D1F4-1F338F95C0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7" r="22011"/>
          <a:stretch>
            <a:fillRect/>
          </a:stretch>
        </p:blipFill>
        <p:spPr>
          <a:xfrm>
            <a:off x="214884" y="1298448"/>
            <a:ext cx="3036607" cy="3328555"/>
          </a:xfrm>
          <a:prstGeom prst="rect">
            <a:avLst/>
          </a:prstGeom>
        </p:spPr>
      </p:pic>
      <p:sp>
        <p:nvSpPr>
          <p:cNvPr id="20" name="Shape 3">
            <a:extLst>
              <a:ext uri="{FF2B5EF4-FFF2-40B4-BE49-F238E27FC236}">
                <a16:creationId xmlns:a16="http://schemas.microsoft.com/office/drawing/2014/main" id="{CB46011C-1768-79E2-77CF-01C3252AC1DC}"/>
              </a:ext>
            </a:extLst>
          </p:cNvPr>
          <p:cNvSpPr/>
          <p:nvPr/>
        </p:nvSpPr>
        <p:spPr>
          <a:xfrm>
            <a:off x="411480" y="959012"/>
            <a:ext cx="45719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AD7F577-5BD3-F0B8-6DA5-E94FFBEBC6DD}"/>
              </a:ext>
            </a:extLst>
          </p:cNvPr>
          <p:cNvSpPr txBox="1"/>
          <p:nvPr/>
        </p:nvSpPr>
        <p:spPr>
          <a:xfrm>
            <a:off x="484633" y="959012"/>
            <a:ext cx="2341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6136-5FD7-9362-B6FC-0FF0A6AC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C546D1-B222-E8AD-5724-746EB3DD7A1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0ACDD2-4207-841F-04FC-B94EE90F693B}"/>
              </a:ext>
            </a:extLst>
          </p:cNvPr>
          <p:cNvSpPr txBox="1"/>
          <p:nvPr/>
        </p:nvSpPr>
        <p:spPr>
          <a:xfrm>
            <a:off x="393192" y="1143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% VELOCIDAD MÁXIMA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CE3FA36-21E5-59DD-B737-45D81E6AD6FE}"/>
              </a:ext>
            </a:extLst>
          </p:cNvPr>
          <p:cNvSpPr/>
          <p:nvPr/>
        </p:nvSpPr>
        <p:spPr>
          <a:xfrm>
            <a:off x="316991" y="388619"/>
            <a:ext cx="8723099" cy="4363489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1904A16-A539-034F-46CD-F66C64162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1" y="502919"/>
            <a:ext cx="8574305" cy="415913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0DDC94C-83FB-1A29-4FC6-ACAAE0273AEA}"/>
              </a:ext>
            </a:extLst>
          </p:cNvPr>
          <p:cNvSpPr txBox="1"/>
          <p:nvPr/>
        </p:nvSpPr>
        <p:spPr>
          <a:xfrm>
            <a:off x="2763981" y="3810580"/>
            <a:ext cx="598682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AR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por jugador agrupada por puesto. Cada mini gráfico muestra el porcentaje de velocidad máxima individual alcanzado semana a semana, con semáforo de color para identificar de un vistazo el nivel de intensidad de sprint a lo largo de la temporada</a:t>
            </a:r>
          </a:p>
        </p:txBody>
      </p:sp>
    </p:spTree>
    <p:extLst>
      <p:ext uri="{BB962C8B-B14F-4D97-AF65-F5344CB8AC3E}">
        <p14:creationId xmlns:p14="http://schemas.microsoft.com/office/powerpoint/2010/main" val="3965712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21397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Perfil de Rendimiento · Partido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78597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COMPETITIVO PROMEDIO + RENDIMIENTO PARTIDO INDIVIDUAL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PERFIL DE RENDIMIENTO + RADAR COMPARATIVO POSICIÓN/EQUIPO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4663440" cy="347472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411480" y="1298448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CAPTURA: Card FIFA con foto, jersey, métricas + gráfico radar vs benchmark puesto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52852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 TABLA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12080" y="1298448"/>
            <a:ext cx="3571702" cy="347472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5212080" y="1298448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CAPTURA: Vista comparativa: jugador vs promedio de su posición</a:t>
            </a:r>
            <a:endParaRPr lang="en-US" sz="1000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CAEC547D-162E-E4F5-27FB-EE4364B7884F}"/>
              </a:ext>
            </a:extLst>
          </p:cNvPr>
          <p:cNvGrpSpPr/>
          <p:nvPr/>
        </p:nvGrpSpPr>
        <p:grpSpPr>
          <a:xfrm>
            <a:off x="448056" y="1382055"/>
            <a:ext cx="5343144" cy="3176090"/>
            <a:chOff x="375416" y="1693023"/>
            <a:chExt cx="4699504" cy="2644566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8C6A711C-6183-3844-910A-D8CB2EACA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9363"/>
            <a:stretch>
              <a:fillRect/>
            </a:stretch>
          </p:blipFill>
          <p:spPr>
            <a:xfrm>
              <a:off x="375416" y="1693024"/>
              <a:ext cx="1904085" cy="2644565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21289542-289D-0C9E-B96D-E2A2BB545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128" r="-14120"/>
            <a:stretch>
              <a:fillRect/>
            </a:stretch>
          </p:blipFill>
          <p:spPr>
            <a:xfrm>
              <a:off x="2263959" y="1693023"/>
              <a:ext cx="2810961" cy="2644565"/>
            </a:xfrm>
            <a:prstGeom prst="rect">
              <a:avLst/>
            </a:prstGeom>
          </p:spPr>
        </p:pic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4D02895A-7662-1A2E-5616-F9956526B2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219"/>
          <a:stretch>
            <a:fillRect/>
          </a:stretch>
        </p:blipFill>
        <p:spPr>
          <a:xfrm>
            <a:off x="5248657" y="1398311"/>
            <a:ext cx="3447288" cy="32749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193689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Demanda Física · Partido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0889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NORMALIZADO · PUNTAJE FINAL · RANKING DE PARTIDO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30201" y="696609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6603353" y="696609"/>
            <a:ext cx="25406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NORMALIZADO POR MÉTRICA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33412" y="982980"/>
            <a:ext cx="6603908" cy="3909060"/>
          </a:xfrm>
          <a:prstGeom prst="rect">
            <a:avLst/>
          </a:prstGeom>
          <a:solidFill>
            <a:srgbClr val="1E3048"/>
          </a:solidFill>
          <a:ln w="12700">
            <a:solidFill>
              <a:srgbClr val="00A8C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4432FCC-E747-C6BC-A7FE-0EB9F70E3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376" y="1044081"/>
            <a:ext cx="6483028" cy="3742475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9906E8C0-8239-A4D3-9492-2C82848C9E9D}"/>
              </a:ext>
            </a:extLst>
          </p:cNvPr>
          <p:cNvGrpSpPr/>
          <p:nvPr/>
        </p:nvGrpSpPr>
        <p:grpSpPr>
          <a:xfrm>
            <a:off x="70104" y="2167957"/>
            <a:ext cx="2238340" cy="2766145"/>
            <a:chOff x="88392" y="1974993"/>
            <a:chExt cx="2375984" cy="2869334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DA99D4DC-AD2A-7EA7-CDF0-1A4C19649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4716"/>
            <a:stretch>
              <a:fillRect/>
            </a:stretch>
          </p:blipFill>
          <p:spPr>
            <a:xfrm>
              <a:off x="88392" y="1974993"/>
              <a:ext cx="905256" cy="2869334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A966C360-7E60-D783-FA26-93F93B9DD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7057"/>
            <a:stretch>
              <a:fillRect/>
            </a:stretch>
          </p:blipFill>
          <p:spPr>
            <a:xfrm>
              <a:off x="1697804" y="1974993"/>
              <a:ext cx="766572" cy="2869334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1951F728-4665-7FF7-092D-F8307804A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5867" r="30811"/>
            <a:stretch>
              <a:fillRect/>
            </a:stretch>
          </p:blipFill>
          <p:spPr>
            <a:xfrm>
              <a:off x="993648" y="1974993"/>
              <a:ext cx="789017" cy="2869334"/>
            </a:xfrm>
            <a:prstGeom prst="rect">
              <a:avLst/>
            </a:prstGeom>
          </p:spPr>
        </p:pic>
      </p:grpSp>
      <p:sp>
        <p:nvSpPr>
          <p:cNvPr id="25" name="Shape 3">
            <a:extLst>
              <a:ext uri="{FF2B5EF4-FFF2-40B4-BE49-F238E27FC236}">
                <a16:creationId xmlns:a16="http://schemas.microsoft.com/office/drawing/2014/main" id="{A3265692-D94F-54D0-50BB-923FF6046118}"/>
              </a:ext>
            </a:extLst>
          </p:cNvPr>
          <p:cNvSpPr/>
          <p:nvPr/>
        </p:nvSpPr>
        <p:spPr>
          <a:xfrm>
            <a:off x="123444" y="1916497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D36F5A0-DE64-64BC-AAEE-3BB4C88ABFCB}"/>
              </a:ext>
            </a:extLst>
          </p:cNvPr>
          <p:cNvSpPr txBox="1"/>
          <p:nvPr/>
        </p:nvSpPr>
        <p:spPr>
          <a:xfrm>
            <a:off x="196596" y="1916497"/>
            <a:ext cx="14828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trabajo futuro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PROYECTO Y PRÓXIMOS PASOS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48463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94360" y="1387152"/>
            <a:ext cx="3657600" cy="324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RPE: tasa de respuesta demasiado baja y discontinua para garantizar fiabilidad. Incluirlos habría introducido más ruido que información.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 de lesiones: el objetivo más ambicioso del proyecto era desarrollar un modelo predictivo de riesgo lesional. El fichero fue entregado tarde e incompleto, lo que obligó a descartarlo.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 de antropometrías: datos parciales y sin actualización periódica, lo que impidió incorporarlos como variables de contexto en el análisis de carga.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GPS: no todos los jugadores usan dispositivo en cada sesión. Algunos solo aparecen en partidos, generando vacíos en el historial que afectan indicadores como el EWMA.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interfaz: a medida que el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crecía en complejidad,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presentó limitaciones de personalización visual que requirieron soluciones alternativas y trabajo adicional no previsto; algunas no pudieron resolverse completamente.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del EWMA: los días sin sesión se computan como carga cero, lo que deflaciona la carga crónica en un deporte intermitente (entrena mar/jue, compite sáb). Limitación metodológica asumida.</a:t>
            </a:r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36576" cy="201168"/>
          </a:xfrm>
          <a:prstGeom prst="rect">
            <a:avLst/>
          </a:prstGeom>
          <a:solidFill>
            <a:srgbClr val="00A8C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4690872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298448"/>
            <a:ext cx="4251960" cy="3291840"/>
          </a:xfrm>
          <a:prstGeom prst="roundRect">
            <a:avLst>
              <a:gd name="adj" fmla="val 2222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4800600" y="1444752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área médica: cruzar datos físicos con historial clínico para una visión integral del jugador.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gestión del riesgo lesional: desarrollar modelos predictivos que identifiquen patrones de sobrecarga y alerten de forma temprana ante situaciones de riesgo.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vía API con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automatizar la carga de datos eliminando la exportación manual.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 dispositivos VALD (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ForceDecks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NordBord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profundizar el control de carga mediante monitoreo neuromuscular objetivo.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o notificaciones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alertas </a:t>
            </a:r>
            <a:r>
              <a:rPr lang="es-AR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pre-entrenamiento</a:t>
            </a:r>
            <a:r>
              <a:rPr lang="es-AR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tiempo real para el cuerpo técnico.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A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4206240"/>
          </a:xfrm>
          <a:prstGeom prst="roundRect">
            <a:avLst>
              <a:gd name="adj" fmla="val 2174"/>
            </a:avLst>
          </a:prstGeom>
          <a:solidFill>
            <a:srgbClr val="1A2535"/>
          </a:solidFill>
          <a:ln w="6350">
            <a:solidFill>
              <a:srgbClr val="1E304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704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GPS DASHBOARD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420092"/>
            <a:ext cx="7680960" cy="2618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era claro: que la información del GPS dejara de vivir en un solo archivo y estuviera disponible para todo el cuerpo técnico, en tiempo real, desde cualquier dispositivo. Hoy eso está resuelto.</a:t>
            </a:r>
          </a:p>
          <a:p>
            <a:pPr marL="0" indent="0" algn="just">
              <a:buNone/>
            </a:pPr>
            <a:endParaRPr lang="es-A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desarrollo, el sistema ya nos permitió analizar variables y tomar algunas decisiones concretas de carga en el club — una validación temprana que va más allá de lo académico.</a:t>
            </a:r>
          </a:p>
          <a:p>
            <a:pPr marL="0" indent="0" algn="just">
              <a:buNone/>
            </a:pPr>
            <a:endParaRPr lang="es-A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este sistema implicó muchas horas frente a la pantalla — aprendiendo, rompiendo cosas y volviéndolas a armar. Cada módulo fue un problema nuevo: desde la lógica de carga hasta el diseño de la interfaz, pasando por decisiones que no tienen una respuesta única. </a:t>
            </a:r>
          </a:p>
          <a:p>
            <a:pPr marL="0" indent="0" algn="just">
              <a:buNone/>
            </a:pPr>
            <a:endParaRPr lang="es-A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fue una herramienta de apoyo durante el desarrollo, útil para acelerar partes del código, pero lejos de ser infalible. Sin un conocimiento previo del dominio y del problema a resolver, no hubiera sido posible guiar el proceso ni detectar los errores. La lógica de análisis y las decisiones metodológicas son propias.</a:t>
            </a:r>
          </a:p>
          <a:p>
            <a:pPr marL="0" indent="0" algn="just">
              <a:buNone/>
            </a:pPr>
            <a:endParaRPr lang="es-AR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que queda es igual de interesante: una versión para jugadores con sus datos básicos, integración con el área médica y el analista de video, modelos predictivos de riesgo lesional y automatización vía API con </a:t>
            </a:r>
            <a:r>
              <a:rPr lang="es-AR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r>
              <a:rPr lang="es-AR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E3048"/>
          </a:solidFill>
          <a:ln w="63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5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nació de una necesidad real dentro del club. Hoy es una herramienta que podemos usar en el día a día.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Agustín Cony · Sport Data Campus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1572</Words>
  <Application>Microsoft Office PowerPoint</Application>
  <PresentationFormat>Presentación en pantalla (16:9)</PresentationFormat>
  <Paragraphs>160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Agustin Cony</cp:lastModifiedBy>
  <cp:revision>45</cp:revision>
  <dcterms:created xsi:type="dcterms:W3CDTF">2026-08-31T09:41:44Z</dcterms:created>
  <dcterms:modified xsi:type="dcterms:W3CDTF">2026-08-31T18:12:22Z</dcterms:modified>
</cp:coreProperties>
</file>